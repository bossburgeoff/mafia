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06640" y="731520"/>
            <a:ext cx="3840480" cy="3840480"/>
          </a:xfrm>
          <a:prstGeom prst="ellipse">
            <a:avLst/>
          </a:prstGeom>
          <a:solidFill>
            <a:srgbClr val="2A6046"/>
          </a:solidFill>
          <a:ln>
            <a:solidFill>
              <a:srgbClr val="E2C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18120" y="1143000"/>
            <a:ext cx="3017520" cy="3017520"/>
          </a:xfrm>
          <a:prstGeom prst="ellipse">
            <a:avLst/>
          </a:prstGeom>
          <a:solidFill>
            <a:srgbClr val="D5BF8E"/>
          </a:solidFill>
          <a:ln>
            <a:solidFill>
              <a:srgbClr val="F6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1554480"/>
            <a:ext cx="2194560" cy="2194560"/>
          </a:xfrm>
          <a:prstGeom prst="ellipse">
            <a:avLst/>
          </a:prstGeom>
          <a:solidFill>
            <a:srgbClr val="2B3027"/>
          </a:solidFill>
          <a:ln>
            <a:solidFill>
              <a:srgbClr val="E2C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94192" y="1828800"/>
            <a:ext cx="1783080" cy="256032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12700">
            <a:solidFill>
              <a:srgbClr val="E2C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1080" y="2057400"/>
            <a:ext cx="1280160" cy="13258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6200" b="1" i="0">
                <a:solidFill>
                  <a:srgbClr val="CF3540"/>
                </a:solidFill>
                <a:latin typeface="Arial"/>
              </a:rPr>
              <a:t>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5943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2C577"/>
                </a:solidFill>
                <a:latin typeface="Arial"/>
              </a:rPr>
              <a:t>МАФИЯ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640080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4200" b="1" i="0">
                <a:solidFill>
                  <a:srgbClr val="F6EFE0"/>
                </a:solidFill>
                <a:latin typeface="Arial"/>
              </a:rPr>
              <a:t>Игра на
доверие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03320"/>
            <a:ext cx="5943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C7CAB9"/>
                </a:solidFill>
                <a:latin typeface="Arial"/>
              </a:rPr>
              <a:t>Онлайн-прототип классической социальной дедукции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4800600"/>
            <a:ext cx="2103120" cy="438912"/>
          </a:xfrm>
          <a:prstGeom prst="roundRect">
            <a:avLst>
              <a:gd name="adj" fmla="val 12000"/>
            </a:avLst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892040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6EFE0"/>
                </a:solidFill>
                <a:latin typeface="Arial"/>
              </a:rPr>
              <a:t>ПРОЕКТ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17220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7CAB9"/>
                </a:solidFill>
                <a:latin typeface="Arial"/>
              </a:rPr>
              <a:t>Концепция • механики • развитие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01 · ИДЕЯ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Мафия — знакомая игра в цифровом формате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02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2C577"/>
                </a:solidFill>
                <a:latin typeface="Arial"/>
              </a:rPr>
              <a:t>Цель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484632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6EFE0"/>
                </a:solidFill>
                <a:latin typeface="Arial"/>
              </a:rPr>
              <a:t>Перенести атмосферу настольной «Мафии» в удобный интерфейс, где игрок может настроить партию, получить тайную роль и участвовать в обсуждении и голосовании.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783080"/>
            <a:ext cx="5257800" cy="352044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CF3540"/>
                </a:solidFill>
                <a:latin typeface="Arial"/>
              </a:rPr>
              <a:t>ОСНОВА ОПЫТА</a:t>
            </a:r>
          </a:p>
        </p:txBody>
      </p:sp>
      <p:sp>
        <p:nvSpPr>
          <p:cNvPr id="10" name="Oval 9"/>
          <p:cNvSpPr/>
          <p:nvPr/>
        </p:nvSpPr>
        <p:spPr>
          <a:xfrm>
            <a:off x="6446520" y="2606040"/>
            <a:ext cx="438912" cy="438912"/>
          </a:xfrm>
          <a:prstGeom prst="ellipse">
            <a:avLst/>
          </a:prstGeom>
          <a:solidFill>
            <a:srgbClr val="F7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633472"/>
            <a:ext cx="384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CF3540"/>
                </a:solidFill>
                <a:latin typeface="Arial"/>
              </a:rPr>
              <a:t>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06040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Социальная дедукция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98648"/>
            <a:ext cx="374903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Наблюдай, обсуждай, ищи противоречия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3410712"/>
            <a:ext cx="438912" cy="438912"/>
          </a:xfrm>
          <a:prstGeom prst="ellipse">
            <a:avLst/>
          </a:prstGeom>
          <a:solidFill>
            <a:srgbClr val="F7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3438144"/>
            <a:ext cx="384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CF3540"/>
                </a:solidFill>
                <a:latin typeface="Arial"/>
              </a:rPr>
              <a:t>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410712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Цикл день / ночь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03320"/>
            <a:ext cx="374903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Особые действия ночью, решение города днём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4215384"/>
            <a:ext cx="438912" cy="438912"/>
          </a:xfrm>
          <a:prstGeom prst="ellipse">
            <a:avLst/>
          </a:prstGeom>
          <a:solidFill>
            <a:srgbClr val="F7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242816"/>
            <a:ext cx="3840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CF3540"/>
                </a:solidFill>
                <a:latin typeface="Arial"/>
              </a:rPr>
              <a:t>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215384"/>
            <a:ext cx="3749039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Настройка партии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507992"/>
            <a:ext cx="374903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Число участников, роли и длительность фаз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074920"/>
            <a:ext cx="49377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2C577"/>
                </a:solidFill>
                <a:latin typeface="Arial"/>
              </a:rPr>
              <a:t>Фокус: быстрый старт партии и понятный игровой экран.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02 · КАК ПРОХОДИТ ПАРТИЯ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Простой цикл, в котором каждое решение важно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03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6771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CF354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82721"/>
                </a:solidFill>
                <a:latin typeface="Arial"/>
              </a:rPr>
              <a:t>Подготовка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37560"/>
            <a:ext cx="16733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E6960"/>
                </a:solidFill>
                <a:latin typeface="Arial"/>
              </a:rPr>
              <a:t>Выбрать состав, количество мафии и таймеры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971800"/>
            <a:ext cx="2926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E2C5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205740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27248" y="226771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CF354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788920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82721"/>
                </a:solidFill>
                <a:latin typeface="Arial"/>
              </a:rPr>
              <a:t>Ночь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337560"/>
            <a:ext cx="16733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E6960"/>
                </a:solidFill>
                <a:latin typeface="Arial"/>
              </a:rPr>
              <a:t>Мафия выбирает цель, специальные роли используют способности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971800"/>
            <a:ext cx="2926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E2C5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205740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31536" y="226771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CF3540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2788920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82721"/>
                </a:solidFill>
                <a:latin typeface="Arial"/>
              </a:rPr>
              <a:t>День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3337560"/>
            <a:ext cx="16733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E6960"/>
                </a:solidFill>
                <a:latin typeface="Arial"/>
              </a:rPr>
              <a:t>Участники обсуждают события и выдвигают подозрения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2971800"/>
            <a:ext cx="2926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E2C5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2" y="205740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35824" y="226771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CF3540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2788920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82721"/>
                </a:solidFill>
                <a:latin typeface="Arial"/>
              </a:rPr>
              <a:t>Голосование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337560"/>
            <a:ext cx="16733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E6960"/>
                </a:solidFill>
                <a:latin typeface="Arial"/>
              </a:rPr>
              <a:t>Игроки выбирают кандидата на изгнание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2971800"/>
            <a:ext cx="29260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E2C5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205740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40112" y="2267712"/>
            <a:ext cx="548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CF3540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788920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82721"/>
                </a:solidFill>
                <a:latin typeface="Arial"/>
              </a:rPr>
              <a:t>Итог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3337560"/>
            <a:ext cx="16733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E6960"/>
                </a:solidFill>
                <a:latin typeface="Arial"/>
              </a:rPr>
              <a:t>Проверка условий победы города или мафии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74920"/>
            <a:ext cx="10789920" cy="658368"/>
          </a:xfrm>
          <a:prstGeom prst="roundRect">
            <a:avLst>
              <a:gd name="adj" fmla="val 12000"/>
            </a:avLst>
          </a:prstGeom>
          <a:solidFill>
            <a:srgbClr val="2D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6EFE0"/>
                </a:solidFill>
                <a:latin typeface="Arial"/>
              </a:rPr>
              <a:t>Ключевая механика: информация неполная — победа зависит от наблюдательности, аргументов и командной стратегии.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03 ·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У каждого участника — своя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04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09728" cy="1600200"/>
          </a:xfrm>
          <a:prstGeom prst="rect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82721"/>
                </a:solidFill>
                <a:latin typeface="Arial"/>
              </a:rPr>
              <a:t>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03911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82721"/>
                </a:solidFill>
                <a:latin typeface="Arial"/>
              </a:rPr>
              <a:t>Мафия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6888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Выбирает цель ночью и старается не выдать себя.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109728" cy="1600200"/>
          </a:xfrm>
          <a:prstGeom prst="rect">
            <a:avLst/>
          </a:prstGeom>
          <a:solidFill>
            <a:srgbClr val="456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011680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82721"/>
                </a:solidFill>
                <a:latin typeface="Arial"/>
              </a:rPr>
              <a:t>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03911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82721"/>
                </a:solidFill>
                <a:latin typeface="Arial"/>
              </a:rPr>
              <a:t>Комиссар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46888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Проверяет одного игрока за ночь.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783080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783080"/>
            <a:ext cx="109728" cy="1600200"/>
          </a:xfrm>
          <a:prstGeom prst="rect">
            <a:avLst/>
          </a:prstGeom>
          <a:solidFill>
            <a:srgbClr val="1B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31352" y="2011680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82721"/>
                </a:solidFill>
                <a:latin typeface="Arial"/>
              </a:rPr>
              <a:t>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03911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82721"/>
                </a:solidFill>
                <a:latin typeface="Arial"/>
              </a:rPr>
              <a:t>Доктор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46888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Пытается защитить выбранного игрока.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49039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49039"/>
            <a:ext cx="109728" cy="1600200"/>
          </a:xfrm>
          <a:prstGeom prst="rect">
            <a:avLst/>
          </a:prstGeom>
          <a:solidFill>
            <a:srgbClr val="9B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3977639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82721"/>
                </a:solidFill>
                <a:latin typeface="Arial"/>
              </a:rPr>
              <a:t>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00507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82721"/>
                </a:solidFill>
                <a:latin typeface="Arial"/>
              </a:rPr>
              <a:t>Любовница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43484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Блокирует особое действие выбранного игрока.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749039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80560" y="3749039"/>
            <a:ext cx="109728" cy="1600200"/>
          </a:xfrm>
          <a:prstGeom prst="rect">
            <a:avLst/>
          </a:prstGeom>
          <a:solidFill>
            <a:srgbClr val="B1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36592" y="3977639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82721"/>
                </a:solidFill>
                <a:latin typeface="Arial"/>
              </a:rPr>
              <a:t>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400507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82721"/>
                </a:solidFill>
                <a:latin typeface="Arial"/>
              </a:rPr>
              <a:t>Журналист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443484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Сравнивает двух игроков по принадлежности к команде.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749039"/>
            <a:ext cx="3429000" cy="160020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20" y="3749039"/>
            <a:ext cx="109728" cy="1600200"/>
          </a:xfrm>
          <a:prstGeom prst="rect">
            <a:avLst/>
          </a:prstGeom>
          <a:solidFill>
            <a:srgbClr val="737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31352" y="3977639"/>
            <a:ext cx="502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82721"/>
                </a:solidFill>
                <a:latin typeface="Arial"/>
              </a:rPr>
              <a:t>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4005072"/>
            <a:ext cx="2240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82721"/>
                </a:solidFill>
                <a:latin typeface="Arial"/>
              </a:rPr>
              <a:t>Мирный житель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4434840"/>
            <a:ext cx="2240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Обсуждает и голосует, чтобы найти мафию.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E2C577"/>
                </a:solidFill>
                <a:latin typeface="Arial"/>
              </a:rPr>
              <a:t>Роли распределяются случайно; личная роль показывается игроку отдельно.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04 · ВОЗМОЖНОСТИ ПРОТОТИПА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Не только игровое поле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05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1078992"/>
          </a:xfrm>
          <a:prstGeom prst="roundRect">
            <a:avLst>
              <a:gd name="adj" fmla="val 12000"/>
            </a:avLst>
          </a:prstGeom>
          <a:solidFill>
            <a:srgbClr val="F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F354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83664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Лобби и настройки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21991"/>
            <a:ext cx="4023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Код комнаты, число участников, число мафии, боты и таймеры дня/ночи.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1078992"/>
          </a:xfrm>
          <a:prstGeom prst="roundRect">
            <a:avLst>
              <a:gd name="adj" fmla="val 12000"/>
            </a:avLst>
          </a:prstGeom>
          <a:solidFill>
            <a:srgbClr val="F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F354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883664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Игровой экран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21991"/>
            <a:ext cx="4023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Список игроков, статус живых, личная роль, чат и голосование.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90672"/>
            <a:ext cx="5166360" cy="1078992"/>
          </a:xfrm>
          <a:prstGeom prst="roundRect">
            <a:avLst>
              <a:gd name="adj" fmla="val 12000"/>
            </a:avLst>
          </a:prstGeom>
          <a:solidFill>
            <a:srgbClr val="F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F354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36976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Профиль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75304"/>
            <a:ext cx="4023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Имя, аватар, уровень, опыт и статистика побед.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90672"/>
            <a:ext cx="5166360" cy="1078992"/>
          </a:xfrm>
          <a:prstGeom prst="roundRect">
            <a:avLst>
              <a:gd name="adj" fmla="val 12000"/>
            </a:avLst>
          </a:prstGeom>
          <a:solidFill>
            <a:srgbClr val="F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273552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F3540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36976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Социальные функции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75304"/>
            <a:ext cx="4023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Список друзей, поиск и запросы в друзья, приглашения и чат.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43983"/>
            <a:ext cx="5166360" cy="1078992"/>
          </a:xfrm>
          <a:prstGeom prst="roundRect">
            <a:avLst>
              <a:gd name="adj" fmla="val 12000"/>
            </a:avLst>
          </a:prstGeom>
          <a:solidFill>
            <a:srgbClr val="F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26864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F3540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90288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Внутриигровая система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928616"/>
            <a:ext cx="4023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Монеты, магазин и выбор оформления интерфейса.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43983"/>
            <a:ext cx="5166360" cy="1078992"/>
          </a:xfrm>
          <a:prstGeom prst="roundRect">
            <a:avLst>
              <a:gd name="adj" fmla="val 12000"/>
            </a:avLst>
          </a:prstGeom>
          <a:solidFill>
            <a:srgbClr val="F4E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626864"/>
            <a:ext cx="502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CF3540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590288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82721"/>
                </a:solidFill>
                <a:latin typeface="Arial"/>
              </a:rPr>
              <a:t>Подсказки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928616"/>
            <a:ext cx="4023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E6960"/>
                </a:solidFill>
                <a:latin typeface="Arial"/>
              </a:rPr>
              <a:t>Встроенное объяснение базовых правил и способностей ролей.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989320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2C577"/>
                </a:solidFill>
                <a:latin typeface="Arial"/>
              </a:rPr>
              <a:t>Визуальный стиль: красные акценты, тёплые светлые панели и игровая атмосфера классического стола.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05 · ПОЛЬЗОВАТЕЛЬСКИЙ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От главного меню — к партии за несколько шагов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06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420624" cy="420624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6EFE0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148840"/>
            <a:ext cx="45720" cy="393192"/>
          </a:xfrm>
          <a:prstGeom prst="rect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EFE0"/>
                </a:solidFill>
                <a:latin typeface="Arial"/>
              </a:rPr>
              <a:t>Главное меню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09928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C7CAB9"/>
                </a:solidFill>
                <a:latin typeface="Arial"/>
              </a:rPr>
              <a:t>Комнаты · создать лобби · боты · друзья · правила · магазин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42032"/>
            <a:ext cx="420624" cy="420624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282721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953512"/>
            <a:ext cx="45720" cy="393192"/>
          </a:xfrm>
          <a:prstGeom prst="rect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496312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EFE0"/>
                </a:solidFill>
                <a:latin typeface="Arial"/>
              </a:rPr>
              <a:t>Настройка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C7CAB9"/>
                </a:solidFill>
                <a:latin typeface="Arial"/>
              </a:rPr>
              <a:t>Имя, код комнаты, число участников, роли и длительность фаз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346704"/>
            <a:ext cx="420624" cy="420624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282721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758184"/>
            <a:ext cx="45720" cy="393192"/>
          </a:xfrm>
          <a:prstGeom prst="rect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300984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EFE0"/>
                </a:solidFill>
                <a:latin typeface="Arial"/>
              </a:rPr>
              <a:t>Старт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19272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C7CAB9"/>
                </a:solidFill>
                <a:latin typeface="Arial"/>
              </a:rPr>
              <a:t>Случайная раздача ролей и переход в игровую комнату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151376"/>
            <a:ext cx="420624" cy="420624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33672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282721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4562856"/>
            <a:ext cx="45720" cy="393192"/>
          </a:xfrm>
          <a:prstGeom prst="rect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4105656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EFE0"/>
                </a:solidFill>
                <a:latin typeface="Arial"/>
              </a:rPr>
              <a:t>Игра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123944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C7CAB9"/>
                </a:solidFill>
                <a:latin typeface="Arial"/>
              </a:rPr>
              <a:t>Ночные действия, чат, обсуждение, голосование и смена фаз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956048"/>
            <a:ext cx="420624" cy="420624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038344"/>
            <a:ext cx="3291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6EFE0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9103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EFE0"/>
                </a:solidFill>
                <a:latin typeface="Arial"/>
              </a:rPr>
              <a:t>Результат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28616"/>
            <a:ext cx="7132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C7CAB9"/>
                </a:solidFill>
                <a:latin typeface="Arial"/>
              </a:rPr>
              <a:t>Проверка победы и обновление игрового прогресса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897880"/>
            <a:ext cx="10744200" cy="411480"/>
          </a:xfrm>
          <a:prstGeom prst="roundRect">
            <a:avLst>
              <a:gd name="adj" fmla="val 12000"/>
            </a:avLst>
          </a:prstGeom>
          <a:solidFill>
            <a:srgbClr val="2D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989320"/>
            <a:ext cx="10332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6EFE0"/>
                </a:solidFill>
                <a:latin typeface="Arial"/>
              </a:rPr>
              <a:t>Интерфейс адаптирован под мобильные экраны и предусматривает компактное размещение основных действий.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06 · ДЛЯ КОГО И ЗАЧЕМ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Социальная игра, в которую легко войти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07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206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82721"/>
                </a:solidFill>
                <a:latin typeface="Arial"/>
              </a:rPr>
              <a:t>Кому подойдёт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2807208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7592" y="2697480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82721"/>
                </a:solidFill>
                <a:latin typeface="Arial"/>
              </a:rPr>
              <a:t>Друзьям, которые хотят играть дистанционно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3374136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3264408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82721"/>
                </a:solidFill>
                <a:latin typeface="Arial"/>
              </a:rPr>
              <a:t>Новичкам, которым нужны понятные правила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3941064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592" y="3831336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82721"/>
                </a:solidFill>
                <a:latin typeface="Arial"/>
              </a:rPr>
              <a:t>Игрокам, желающим потренироваться с ботами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" y="4507992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07592" y="4398264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82721"/>
                </a:solidFill>
                <a:latin typeface="Arial"/>
              </a:rPr>
              <a:t>Любителям обсуждений, блефа и дедукции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2D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4206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6EFE0"/>
                </a:solidFill>
                <a:latin typeface="Arial"/>
              </a:rPr>
              <a:t>Ценность проекта</a:t>
            </a:r>
          </a:p>
        </p:txBody>
      </p:sp>
      <p:sp>
        <p:nvSpPr>
          <p:cNvPr id="18" name="Oval 17"/>
          <p:cNvSpPr/>
          <p:nvPr/>
        </p:nvSpPr>
        <p:spPr>
          <a:xfrm>
            <a:off x="6510528" y="2807208"/>
            <a:ext cx="109728" cy="109728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2697480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EFE0"/>
                </a:solidFill>
                <a:latin typeface="Arial"/>
              </a:rPr>
              <a:t>Понятная структура партии: день и ночь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3374136"/>
            <a:ext cx="109728" cy="109728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3264408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EFE0"/>
                </a:solidFill>
                <a:latin typeface="Arial"/>
              </a:rPr>
              <a:t>Настраиваемый состав участников</a:t>
            </a:r>
          </a:p>
        </p:txBody>
      </p:sp>
      <p:sp>
        <p:nvSpPr>
          <p:cNvPr id="22" name="Oval 21"/>
          <p:cNvSpPr/>
          <p:nvPr/>
        </p:nvSpPr>
        <p:spPr>
          <a:xfrm>
            <a:off x="6510528" y="3941064"/>
            <a:ext cx="109728" cy="109728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3831336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EFE0"/>
                </a:solidFill>
                <a:latin typeface="Arial"/>
              </a:rPr>
              <a:t>Разные роли создают разные стратегии</a:t>
            </a:r>
          </a:p>
        </p:txBody>
      </p:sp>
      <p:sp>
        <p:nvSpPr>
          <p:cNvPr id="24" name="Oval 23"/>
          <p:cNvSpPr/>
          <p:nvPr/>
        </p:nvSpPr>
        <p:spPr>
          <a:xfrm>
            <a:off x="6510528" y="4507992"/>
            <a:ext cx="109728" cy="109728"/>
          </a:xfrm>
          <a:prstGeom prst="ellipse">
            <a:avLst/>
          </a:prstGeom>
          <a:solidFill>
            <a:srgbClr val="E2C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39128" y="4398264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EFE0"/>
                </a:solidFill>
                <a:latin typeface="Arial"/>
              </a:rPr>
              <a:t>Профиль и прогресс добавляют мотивацию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E2C577"/>
                </a:solidFill>
                <a:latin typeface="Arial"/>
              </a:rPr>
              <a:t>Главная идея — сделать классическую «Мафию» доступной в браузерном интерфейсе.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2C577"/>
                </a:solidFill>
                <a:latin typeface="Arial"/>
              </a:rPr>
              <a:t>07 · ТЕКУЩИЙ СТАТУС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6EFE0"/>
                </a:solidFill>
                <a:latin typeface="Arial"/>
              </a:rPr>
              <a:t>Рабочая концепция — следующий шаг к полноценному онлайну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47472"/>
            <a:ext cx="9144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C7CAB9"/>
                </a:solidFill>
                <a:latin typeface="Arial"/>
              </a:rPr>
              <a:t>08  / 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506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74920" cy="356616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297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82721"/>
                </a:solidFill>
                <a:latin typeface="Arial"/>
              </a:rPr>
              <a:t>Уже предусмотрено в прототипе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2852928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7592" y="2743200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Главное меню и профиль игрока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3383280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3273552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Настройка и запуск партии с ботами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3913632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592" y="3803904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Смена фаз, роли, чат и голосование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" y="4443984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07592" y="4334256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Друзья, магазин, статистика и настройки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5074920" cy="3566160"/>
          </a:xfrm>
          <a:prstGeom prst="roundRect">
            <a:avLst>
              <a:gd name="adj" fmla="val 12000"/>
            </a:avLst>
          </a:prstGeom>
          <a:solidFill>
            <a:srgbClr val="F3E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4389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82721"/>
                </a:solidFill>
                <a:latin typeface="Arial"/>
              </a:rPr>
              <a:t>Приоритеты дальнейшей разработки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2852928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2743200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Сервер и синхронизация между устройствами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3383280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93992" y="3273552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Настоящие онлайн-комнаты и приглашения</a:t>
            </a:r>
          </a:p>
        </p:txBody>
      </p:sp>
      <p:sp>
        <p:nvSpPr>
          <p:cNvPr id="22" name="Oval 21"/>
          <p:cNvSpPr/>
          <p:nvPr/>
        </p:nvSpPr>
        <p:spPr>
          <a:xfrm>
            <a:off x="6565392" y="3913632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93992" y="3803904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Сохранение профиля и прогресса</a:t>
            </a:r>
          </a:p>
        </p:txBody>
      </p:sp>
      <p:sp>
        <p:nvSpPr>
          <p:cNvPr id="24" name="Oval 23"/>
          <p:cNvSpPr/>
          <p:nvPr/>
        </p:nvSpPr>
        <p:spPr>
          <a:xfrm>
            <a:off x="6565392" y="4443984"/>
            <a:ext cx="109728" cy="109728"/>
          </a:xfrm>
          <a:prstGeom prst="ellipse">
            <a:avLst/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93992" y="4334256"/>
            <a:ext cx="4114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82721"/>
                </a:solidFill>
                <a:latin typeface="Arial"/>
              </a:rPr>
              <a:t>Тестирование баланса ролей и удобства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669280"/>
            <a:ext cx="10607040" cy="594360"/>
          </a:xfrm>
          <a:prstGeom prst="roundRect">
            <a:avLst>
              <a:gd name="adj" fmla="val 12000"/>
            </a:avLst>
          </a:prstGeom>
          <a:solidFill>
            <a:srgbClr val="CF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824728"/>
            <a:ext cx="10241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6EFE0"/>
                </a:solidFill>
                <a:latin typeface="Arial"/>
              </a:rPr>
              <a:t>Важно: в исходном проекте указано, что серверная синхронизация и подключение реальных устройств пока не реализованы.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efadsfasd fadfsad</cp:lastModifiedBy>
  <cp:revision>2</cp:revision>
  <dcterms:created xsi:type="dcterms:W3CDTF">2013-01-27T09:14:16Z</dcterms:created>
  <dcterms:modified xsi:type="dcterms:W3CDTF">2026-10-13T07:07:04Z</dcterms:modified>
  <cp:category/>
</cp:coreProperties>
</file>