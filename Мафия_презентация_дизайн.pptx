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70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75320" y="0"/>
            <a:ext cx="3913632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58200" y="960120"/>
            <a:ext cx="2514600" cy="2514600"/>
          </a:xfrm>
          <a:prstGeom prst="ellipse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713232"/>
            <a:ext cx="2514600" cy="2514600"/>
          </a:xfrm>
          <a:prstGeom prst="ellipse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2148840"/>
            <a:ext cx="2103120" cy="3246120"/>
          </a:xfrm>
          <a:prstGeom prst="roundRect">
            <a:avLst/>
          </a:prstGeom>
          <a:solidFill>
            <a:srgbClr val="F4F1EB"/>
          </a:solidFill>
          <a:ln>
            <a:solidFill>
              <a:srgbClr val="E2B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2267712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BE2B3A"/>
                </a:solidFill>
                <a:latin typeface="Aptos"/>
              </a:rPr>
              <a:t>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834640"/>
            <a:ext cx="914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0" b="1" i="0">
                <a:solidFill>
                  <a:srgbClr val="0D0F15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46177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BE2B3A"/>
                </a:solidFill>
                <a:latin typeface="Aptos"/>
              </a:rPr>
              <a:t>MAFIA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0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2B868"/>
                </a:solidFill>
                <a:latin typeface="Aptos"/>
              </a:rPr>
              <a:t>ПРОЕКТ •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234440"/>
            <a:ext cx="658368" cy="54864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00200"/>
            <a:ext cx="7040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4F1EB"/>
                </a:solidFill>
                <a:latin typeface="Aptos"/>
              </a:rPr>
              <a:t>МАФИЯ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8036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A6AAB5"/>
                </a:solidFill>
                <a:latin typeface="Aptos"/>
              </a:rPr>
              <a:t>Игра на доверие,
логику и блеф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75488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4F1EB"/>
                </a:solidFill>
                <a:latin typeface="Aptos"/>
              </a:rPr>
              <a:t>Интерактивный браузерный прототип с автоматическим ведущим и ботами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61722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ПРЕЗЕНТАЦИЯ 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ИДЕЯ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02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Одна игра. Две команды. Ни одному слову нельзя верить.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«Мафия» переносит классическую социальную дедукцию в интерактивный браузерный формат.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493008" cy="251460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E2B3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54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4F1EB"/>
                </a:solidFill>
                <a:latin typeface="Aptos"/>
              </a:rPr>
              <a:t>ДОГАДАТЬСЯ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730752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Наблюдать за поведением игроков и искать противоречия.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423160"/>
            <a:ext cx="3493008" cy="251460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2B86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4F1EB"/>
                </a:solidFill>
                <a:latin typeface="Aptos"/>
              </a:rPr>
              <a:t>УБЕДИТЬ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30752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Обсуждать подозрения, аргументировать и влиять на голосование.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2423160"/>
            <a:ext cx="3493008" cy="251460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3AD8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154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4F1EB"/>
                </a:solidFill>
                <a:latin typeface="Aptos"/>
              </a:rPr>
              <a:t>ПОБЕДИТЬ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730752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Скрывать роль или раскрывать мафию, пока не стало поздно.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ПРОБЛЕМА И 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03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От компании игроков — к игре, которую можно запустить сразу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Проект автоматизирует ход партии и позволяет сосредоточиться на стратегии.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166360" cy="32461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5166360" cy="3246120"/>
          </a:xfrm>
          <a:prstGeom prst="roundRect">
            <a:avLst/>
          </a:prstGeom>
          <a:solidFill>
            <a:srgbClr val="1F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334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E2B3A"/>
                </a:solidFill>
                <a:latin typeface="Aptos"/>
              </a:rPr>
              <a:t>БЕЗ ПРОТОТИПА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26280" cy="2011680"/>
          </a:xfrm>
          <a:prstGeom prst="rect">
            <a:avLst/>
          </a:prstGeom>
          <a:noFill/>
        </p:spPr>
        <p:txBody>
          <a:bodyPr wrap="square" lIns="27432" rIns="27432" tIns="27432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BE2B3A"/>
                </a:solidFill>
                <a:latin typeface="Aptos"/>
              </a:rPr>
              <a:t>●  </a:t>
            </a:r>
            <a:r>
              <a:rPr sz="1600">
                <a:solidFill>
                  <a:srgbClr val="F4F1EB"/>
                </a:solidFill>
                <a:latin typeface="Aptos"/>
              </a:rPr>
              <a:t>Нужно вручную следить за этапами игры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BE2B3A"/>
                </a:solidFill>
                <a:latin typeface="Aptos"/>
              </a:rPr>
              <a:t>●  </a:t>
            </a:r>
            <a:r>
              <a:rPr sz="1600">
                <a:solidFill>
                  <a:srgbClr val="F4F1EB"/>
                </a:solidFill>
                <a:latin typeface="Aptos"/>
              </a:rPr>
              <a:t>Ведущий управляет ночными действиями и голосованием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BE2B3A"/>
                </a:solidFill>
                <a:latin typeface="Aptos"/>
              </a:rPr>
              <a:t>●  </a:t>
            </a:r>
            <a:r>
              <a:rPr sz="1600">
                <a:solidFill>
                  <a:srgbClr val="F4F1EB"/>
                </a:solidFill>
                <a:latin typeface="Aptos"/>
              </a:rPr>
              <a:t>Новичкам сложнее освоить правила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3347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B868"/>
                </a:solidFill>
                <a:latin typeface="Aptos"/>
              </a:rPr>
              <a:t>РЕШЕНИЕ MAFIA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154680"/>
            <a:ext cx="4526280" cy="2011680"/>
          </a:xfrm>
          <a:prstGeom prst="rect">
            <a:avLst/>
          </a:prstGeom>
          <a:noFill/>
        </p:spPr>
        <p:txBody>
          <a:bodyPr wrap="square" lIns="27432" rIns="27432" tIns="27432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2B868"/>
                </a:solidFill>
                <a:latin typeface="Aptos"/>
              </a:rPr>
              <a:t>●  </a:t>
            </a:r>
            <a:r>
              <a:rPr sz="1600">
                <a:solidFill>
                  <a:srgbClr val="F4F1EB"/>
                </a:solidFill>
                <a:latin typeface="Aptos"/>
              </a:rPr>
              <a:t>Автоматический ведущий управляет игровым циклом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2B868"/>
                </a:solidFill>
                <a:latin typeface="Aptos"/>
              </a:rPr>
              <a:t>●  </a:t>
            </a:r>
            <a:r>
              <a:rPr sz="1600">
                <a:solidFill>
                  <a:srgbClr val="F4F1EB"/>
                </a:solidFill>
                <a:latin typeface="Aptos"/>
              </a:rPr>
              <a:t>Боты позволяют играть без полной компании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2B868"/>
                </a:solidFill>
                <a:latin typeface="Aptos"/>
              </a:rPr>
              <a:t>●  </a:t>
            </a:r>
            <a:r>
              <a:rPr sz="1600">
                <a:solidFill>
                  <a:srgbClr val="F4F1EB"/>
                </a:solidFill>
                <a:latin typeface="Aptos"/>
              </a:rPr>
              <a:t>Настройки помогают менять состав и темп партии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1EB"/>
                </a:solidFill>
                <a:latin typeface="Aptos"/>
              </a:rPr>
              <a:t>ЦЕЛЬ: сделать игровой процесс понятным, последовательным и удобным.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КАК ПРОХОДИТ ПАРТИЯ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04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Игровой цикл — в четырёх шагах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Каждый этап меняет информацию, доступную игрокам.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2542032" cy="25603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7249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E2B3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1EB"/>
                </a:solidFill>
                <a:latin typeface="Aptos"/>
              </a:rPr>
              <a:t>НОЧЬ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840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Мафия выбирает цель. Ролевые персонажи используют свои действия.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2B86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2514600"/>
            <a:ext cx="2542032" cy="25603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27249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2B86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1EB"/>
                </a:solidFill>
                <a:latin typeface="Aptos"/>
              </a:rPr>
              <a:t>ДЕНЬ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840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Игроки обсуждают события и делятся подозрениями.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2B86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14600"/>
            <a:ext cx="2542032" cy="25603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7249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2B86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1EB"/>
                </a:solidFill>
                <a:latin typeface="Aptos"/>
              </a:rPr>
              <a:t>ГОЛОСОВАНИЕ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Участники выбирают, кого подозревают больше всего.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2B86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2514600"/>
            <a:ext cx="2542032" cy="25603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72491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E2B3A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1EB"/>
                </a:solidFill>
                <a:latin typeface="Aptos"/>
              </a:rPr>
              <a:t>ИЗГНАНИЕ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840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Игрок покидает игру; проверяется условие победы.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РОЛИ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05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У каждой роли — своя информация и 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Разные возможности создают пространство для тактики, обмана и неожиданных решений.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3493008" cy="1298448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86000"/>
            <a:ext cx="64008" cy="12984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E2B3A"/>
                </a:solidFill>
                <a:latin typeface="Aptos"/>
              </a:rPr>
              <a:t>МАФИЯ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07792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1EB"/>
                </a:solidFill>
                <a:latin typeface="Aptos"/>
              </a:rPr>
              <a:t>Устраняет игроков ночью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286000"/>
            <a:ext cx="3493008" cy="1298448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286000"/>
            <a:ext cx="64008" cy="1298448"/>
          </a:xfrm>
          <a:prstGeom prst="rect">
            <a:avLst/>
          </a:prstGeom>
          <a:solidFill>
            <a:srgbClr val="6D9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D9ECF"/>
                </a:solidFill>
                <a:latin typeface="Aptos"/>
              </a:rPr>
              <a:t>КОМИССАР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907792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1EB"/>
                </a:solidFill>
                <a:latin typeface="Aptos"/>
              </a:rPr>
              <a:t>Проверяет подозреваемых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286000"/>
            <a:ext cx="3493008" cy="1298448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2752" y="2286000"/>
            <a:ext cx="64008" cy="1298448"/>
          </a:xfrm>
          <a:prstGeom prst="rect">
            <a:avLst/>
          </a:prstGeom>
          <a:solidFill>
            <a:srgbClr val="63A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48716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3AD89"/>
                </a:solidFill>
                <a:latin typeface="Aptos"/>
              </a:rPr>
              <a:t>ДОКТОР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907792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1EB"/>
                </a:solidFill>
                <a:latin typeface="Aptos"/>
              </a:rPr>
              <a:t>Пытается спасти игрока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58768"/>
            <a:ext cx="3493008" cy="1298448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858768"/>
            <a:ext cx="64008" cy="1298448"/>
          </a:xfrm>
          <a:prstGeom prst="rect">
            <a:avLst/>
          </a:prstGeom>
          <a:solidFill>
            <a:srgbClr val="E2B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059935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2B868"/>
                </a:solidFill>
                <a:latin typeface="Aptos"/>
              </a:rPr>
              <a:t>ЛЮБОВНИЦА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480559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1EB"/>
                </a:solidFill>
                <a:latin typeface="Aptos"/>
              </a:rPr>
              <a:t>Особое ночное действие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858768"/>
            <a:ext cx="3493008" cy="1298448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3858768"/>
            <a:ext cx="64008" cy="1298448"/>
          </a:xfrm>
          <a:prstGeom prst="rect">
            <a:avLst/>
          </a:prstGeom>
          <a:solidFill>
            <a:srgbClr val="6D9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4059935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D9ECF"/>
                </a:solidFill>
                <a:latin typeface="Aptos"/>
              </a:rPr>
              <a:t>ЖУРНАЛИСТ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480559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1EB"/>
                </a:solidFill>
                <a:latin typeface="Aptos"/>
              </a:rPr>
              <a:t>Получает сведения по роли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3858768"/>
            <a:ext cx="3493008" cy="1298448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2752" y="3858768"/>
            <a:ext cx="64008" cy="1298448"/>
          </a:xfrm>
          <a:prstGeom prst="rect">
            <a:avLst/>
          </a:prstGeom>
          <a:solidFill>
            <a:srgbClr val="A6A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059935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6AAB5"/>
                </a:solidFill>
                <a:latin typeface="Aptos"/>
              </a:rPr>
              <a:t>МИРНЫЙ ЖИТЕЛЬ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480559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1EB"/>
                </a:solidFill>
                <a:latin typeface="Aptos"/>
              </a:rPr>
              <a:t>Ищет мафию обсуждением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РЕАЛИЗАЦИЯ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06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Компактная архитектура — быстрый старт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Прототип реализован как единый HTML-файл, который запускается в браузере.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3657600" cy="306324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2B868"/>
                </a:solidFill>
                <a:latin typeface="Aptos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5844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1EB"/>
                </a:solidFill>
                <a:latin typeface="Aptos"/>
              </a:rPr>
              <a:t>Один файл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096512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Без сборки и внешних зависимостей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395728"/>
            <a:ext cx="6355080" cy="786384"/>
          </a:xfrm>
          <a:prstGeom prst="roundRect">
            <a:avLst/>
          </a:prstGeom>
          <a:solidFill>
            <a:srgbClr val="1F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25328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B868"/>
                </a:solidFill>
                <a:latin typeface="Aptos"/>
              </a:rPr>
              <a:t>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52374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1EB"/>
                </a:solidFill>
                <a:latin typeface="Aptos"/>
              </a:rPr>
              <a:t>Экраны, настройки и игровые события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401568"/>
            <a:ext cx="6355080" cy="786384"/>
          </a:xfrm>
          <a:prstGeom prst="roundRect">
            <a:avLst/>
          </a:prstGeom>
          <a:solidFill>
            <a:srgbClr val="1F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35387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B868"/>
                </a:solidFill>
                <a:latin typeface="Aptos"/>
              </a:rPr>
              <a:t>ЛОГИКА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52958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1EB"/>
                </a:solidFill>
                <a:latin typeface="Aptos"/>
              </a:rPr>
              <a:t>Роли, фазы и обработка действий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407408"/>
            <a:ext cx="6355080" cy="786384"/>
          </a:xfrm>
          <a:prstGeom prst="roundRect">
            <a:avLst/>
          </a:prstGeom>
          <a:solidFill>
            <a:srgbClr val="1F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454456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B868"/>
                </a:solidFill>
                <a:latin typeface="Aptos"/>
              </a:rPr>
              <a:t>БОТЫ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453542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1EB"/>
                </a:solidFill>
                <a:latin typeface="Aptos"/>
              </a:rPr>
              <a:t>Автоматические участники партии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623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6AAB5"/>
                </a:solidFill>
                <a:latin typeface="Aptos"/>
              </a:rPr>
              <a:t>Версия прототипа: 0.1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УСЛОВИЯ ПОБЕДЫ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07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Победа зависит от баланса сил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После изгнания игра проверяет, выполнила ли одна из команд своё условие.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5166360" cy="242316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88920"/>
            <a:ext cx="1234440" cy="1234440"/>
          </a:xfrm>
          <a:prstGeom prst="ellipse">
            <a:avLst/>
          </a:prstGeom>
          <a:solidFill>
            <a:srgbClr val="63A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D0F15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88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63AD89"/>
                </a:solidFill>
                <a:latin typeface="Aptos"/>
              </a:rPr>
              <a:t>ПОБЕДА ГОРОДА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01568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1EB"/>
                </a:solidFill>
                <a:latin typeface="Aptos"/>
              </a:rPr>
              <a:t>Когда мафия полностью уничтожена.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68880"/>
            <a:ext cx="5166360" cy="242316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56832" y="2788920"/>
            <a:ext cx="1234440" cy="1234440"/>
          </a:xfrm>
          <a:prstGeom prst="ellipse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2852928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4F1EB"/>
                </a:solidFill>
                <a:latin typeface="Aptos"/>
              </a:rPr>
              <a:t>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788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E2B3A"/>
                </a:solidFill>
                <a:latin typeface="Aptos"/>
              </a:rPr>
              <a:t>ПОБЕДА МАФИИ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401568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1EB"/>
                </a:solidFill>
                <a:latin typeface="Aptos"/>
              </a:rPr>
              <a:t>Когда мафия получает численное преимущество.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A6AAB5"/>
                </a:solidFill>
                <a:latin typeface="Aptos"/>
              </a:rPr>
              <a:t>Важно: баланс партии зависит от состава игроков и набора ролей.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ТЕКУЩЕЕ СОСТОЯНИЕ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08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Что уже есть — и что ещё предстоит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Честно отделяем реализованные функции от идей развития.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166360" cy="338328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5166360" cy="3383280"/>
          </a:xfrm>
          <a:prstGeom prst="roundRect">
            <a:avLst/>
          </a:prstGeom>
          <a:solidFill>
            <a:srgbClr val="1F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3AD89"/>
                </a:solidFill>
                <a:latin typeface="Aptos"/>
              </a:rPr>
              <a:t>УЖЕ В ПРОТОТИПЕ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480560" cy="2240280"/>
          </a:xfrm>
          <a:prstGeom prst="rect">
            <a:avLst/>
          </a:prstGeom>
          <a:noFill/>
        </p:spPr>
        <p:txBody>
          <a:bodyPr wrap="square" lIns="27432" rIns="27432" tIns="27432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63AD89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Игровой цикл: ночь → день → голосование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63AD89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Автоматический ведущий и боты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63AD89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Несколько игровых ролей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63AD89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Настройки состава и таймеров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334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2B868"/>
                </a:solidFill>
                <a:latin typeface="Aptos"/>
              </a:rPr>
              <a:t>СЛЕДУЮЩИЕ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54680"/>
            <a:ext cx="4480560" cy="2240280"/>
          </a:xfrm>
          <a:prstGeom prst="rect">
            <a:avLst/>
          </a:prstGeom>
          <a:noFill/>
        </p:spPr>
        <p:txBody>
          <a:bodyPr wrap="square" lIns="27432" rIns="27432" tIns="27432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2B868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Сетевой режим и синхронизация устройств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2B868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Умнее поведение ботов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2B868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История партий, новые роли и правила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2B868"/>
                </a:solidFill>
                <a:latin typeface="Aptos"/>
              </a:rPr>
              <a:t>●  </a:t>
            </a:r>
            <a:r>
              <a:rPr sz="1500">
                <a:solidFill>
                  <a:srgbClr val="F4F1EB"/>
                </a:solidFill>
                <a:latin typeface="Aptos"/>
              </a:rPr>
              <a:t>Звуки, анимации и темы оформления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B868"/>
                </a:solidFill>
                <a:latin typeface="Aptos"/>
              </a:rPr>
              <a:t>ПЛАН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502920" cy="41148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32004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6AAB5"/>
                </a:solidFill>
                <a:latin typeface="Aptos"/>
              </a:rPr>
              <a:t>09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1EB"/>
                </a:solidFill>
                <a:latin typeface="Aptos"/>
              </a:rPr>
              <a:t>От работающего прототипа — к полноценному игровому продукту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6AAB5"/>
                </a:solidFill>
                <a:latin typeface="Aptos"/>
              </a:rPr>
              <a:t>Развитие можно вести поэтапно, проверяя пользу каждой функции.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2542032" cy="23317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2B86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101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1EB"/>
                </a:solidFill>
                <a:latin typeface="Aptos"/>
              </a:rPr>
              <a:t>НАДЁЖНОСТЬ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221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Проверить сценарии и исправить ошибки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514600"/>
            <a:ext cx="2542032" cy="23317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2B86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3101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1EB"/>
                </a:solidFill>
                <a:latin typeface="Aptos"/>
              </a:rPr>
              <a:t>ИГРОВОЙ ОПЫТ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8221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Улучшить интерфейс, правила и ботов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14600"/>
            <a:ext cx="2542032" cy="23317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2B86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3101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1EB"/>
                </a:solidFill>
                <a:latin typeface="Aptos"/>
              </a:rPr>
              <a:t>МУЛЬТИПЛЕЕР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8221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Добавить сервер и подключение игроков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2514600"/>
            <a:ext cx="2542032" cy="2331720"/>
          </a:xfrm>
          <a:prstGeom prst="roundRect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2B86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331012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1EB"/>
                </a:solidFill>
                <a:latin typeface="Aptos"/>
              </a:rPr>
              <a:t>ПОЛИРОВКА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8221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6AAB5"/>
                </a:solidFill>
                <a:latin typeface="Aptos"/>
              </a:rPr>
              <a:t>Звук, анимации, доступность и локализация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1EB"/>
                </a:solidFill>
                <a:latin typeface="Aptos"/>
              </a:rPr>
              <a:t>Приоритет для следующей версии: сетевой режим и стабильность игрового цикла.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097280"/>
            <a:ext cx="2560320" cy="2560320"/>
          </a:xfrm>
          <a:prstGeom prst="ellipse">
            <a:avLst/>
          </a:prstGeom>
          <a:solidFill>
            <a:srgbClr val="70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822960"/>
            <a:ext cx="2560320" cy="2560320"/>
          </a:xfrm>
          <a:prstGeom prst="ellipse">
            <a:avLst/>
          </a:prstGeom>
          <a:solidFill>
            <a:srgbClr val="18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2331720"/>
            <a:ext cx="2103120" cy="3017520"/>
          </a:xfrm>
          <a:prstGeom prst="round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248716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BE2B3A"/>
                </a:solidFill>
                <a:latin typeface="Aptos"/>
              </a:rPr>
              <a:t>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310896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600" b="1" i="0">
                <a:solidFill>
                  <a:srgbClr val="0D0F15"/>
                </a:solidFill>
                <a:latin typeface="Aptos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40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2B868"/>
                </a:solidFill>
                <a:latin typeface="Aptos"/>
              </a:rPr>
              <a:t>ВАШ 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7040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4F1EB"/>
                </a:solidFill>
                <a:latin typeface="Aptos"/>
              </a:rPr>
              <a:t>КТО ИЗ НАС
МАФИЯ?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657600"/>
            <a:ext cx="685800" cy="54864"/>
          </a:xfrm>
          <a:prstGeom prst="rect">
            <a:avLst/>
          </a:prstGeom>
          <a:solidFill>
            <a:srgbClr val="BE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0690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A6AAB5"/>
                </a:solidFill>
                <a:latin typeface="Aptos"/>
              </a:rPr>
              <a:t>Спасибо за внимание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920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2B868"/>
                </a:solidFill>
                <a:latin typeface="Aptos"/>
              </a:rPr>
              <a:t>Вопросы?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4739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AAB5"/>
                </a:solidFill>
                <a:latin typeface="Aptos"/>
              </a:rPr>
              <a:t>MAFIA 2026  •  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Мафия 2026 — презентация проекта</dc:title>
  <dc:subject>Интерактивный браузерный прототип игры Мафия</dc:subject>
  <dc:creator>OpenAI</dc:creator>
  <cp:keywords>Мафия, проект, презентация, Mafia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