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E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589520" y="-731520"/>
            <a:ext cx="5394960" cy="5394960"/>
          </a:xfrm>
          <a:prstGeom prst="ellipse">
            <a:avLst/>
          </a:prstGeom>
          <a:solidFill>
            <a:srgbClr val="7E1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92440" y="-256032"/>
            <a:ext cx="4434840" cy="4434840"/>
          </a:xfrm>
          <a:prstGeom prst="ellipse">
            <a:avLst/>
          </a:prstGeom>
          <a:solidFill>
            <a:srgbClr val="0C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778240" y="438912"/>
            <a:ext cx="3017520" cy="3017520"/>
          </a:xfrm>
          <a:prstGeom prst="ellipse">
            <a:avLst/>
          </a:prstGeom>
          <a:solidFill>
            <a:srgbClr val="1D2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189720" y="850392"/>
            <a:ext cx="2194560" cy="2194560"/>
          </a:xfrm>
          <a:prstGeom prst="ellipse">
            <a:avLst/>
          </a:prstGeom>
          <a:solidFill>
            <a:srgbClr val="E23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582912" y="1243584"/>
            <a:ext cx="1417320" cy="1417320"/>
          </a:xfrm>
          <a:prstGeom prst="ellipse">
            <a:avLst/>
          </a:prstGeom>
          <a:solidFill>
            <a:srgbClr val="0C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74352" y="1143000"/>
            <a:ext cx="1143000" cy="1143000"/>
          </a:xfrm>
          <a:prstGeom prst="ellipse">
            <a:avLst/>
          </a:prstGeom>
          <a:solidFill>
            <a:srgbClr val="E0B4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985248" y="960120"/>
            <a:ext cx="1143000" cy="1143000"/>
          </a:xfrm>
          <a:prstGeom prst="ellipse">
            <a:avLst/>
          </a:prstGeom>
          <a:solidFill>
            <a:srgbClr val="E23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58368"/>
            <a:ext cx="3657600" cy="32004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E23743"/>
                </a:solidFill>
                <a:latin typeface="Aptos"/>
              </a:rPr>
              <a:t>ИНТЕРАКТИВНЫЙ ПРОТОТИП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417320"/>
            <a:ext cx="6400800" cy="1371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5800" b="1" i="0">
                <a:solidFill>
                  <a:srgbClr val="F4EFE3"/>
                </a:solidFill>
                <a:latin typeface="Aptos Display"/>
              </a:rPr>
              <a:t>МАФИЯ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761488"/>
            <a:ext cx="5943600" cy="59436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E0B45D"/>
                </a:solidFill>
                <a:latin typeface="Aptos Display"/>
              </a:rPr>
              <a:t>MAFIA 2026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" y="3566160"/>
            <a:ext cx="822960" cy="54864"/>
          </a:xfrm>
          <a:prstGeom prst="rect">
            <a:avLst/>
          </a:prstGeom>
          <a:solidFill>
            <a:srgbClr val="E23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3886200"/>
            <a:ext cx="5212080" cy="100584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 i="0">
                <a:solidFill>
                  <a:srgbClr val="A4A9B8"/>
                </a:solidFill>
                <a:latin typeface="Aptos Display"/>
              </a:rPr>
              <a:t>Ночь скрывает роли.</a:t>
            </a:r>
          </a:p>
          <a:p>
            <a:pPr algn="l">
              <a:spcAft>
                <a:spcPts val="400"/>
              </a:spcAft>
            </a:pPr>
            <a:r>
              <a:rPr sz="2200" b="0" i="0">
                <a:solidFill>
                  <a:srgbClr val="A4A9B8"/>
                </a:solidFill>
                <a:latin typeface="Aptos Display"/>
              </a:rPr>
              <a:t>День раскрывает характеры.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6080760"/>
            <a:ext cx="420624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A4A9B8"/>
                </a:solidFill>
                <a:latin typeface="Aptos"/>
              </a:rPr>
              <a:t>КОНЦЕПЦИЯ ИГРЫ  •  2026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E23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E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47472"/>
            <a:ext cx="685800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E23743"/>
                </a:solidFill>
                <a:latin typeface="Aptos"/>
              </a:rPr>
              <a:t>01 / ИДЕЯ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04088"/>
            <a:ext cx="10515600" cy="59436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F4EFE3"/>
                </a:solidFill>
                <a:latin typeface="Aptos Display"/>
              </a:rPr>
              <a:t>Классическая «Мафия» — в цифровом формате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411480"/>
            <a:ext cx="45720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1" i="0">
                <a:solidFill>
                  <a:srgbClr val="A4A9B8"/>
                </a:solidFill>
                <a:latin typeface="Aptos"/>
              </a:rP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89888"/>
            <a:ext cx="566928" cy="41148"/>
          </a:xfrm>
          <a:prstGeom prst="rect">
            <a:avLst/>
          </a:prstGeom>
          <a:solidFill>
            <a:srgbClr val="E23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510528"/>
            <a:ext cx="5486400" cy="1828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1" i="0">
                <a:solidFill>
                  <a:srgbClr val="A4A9B8"/>
                </a:solidFill>
                <a:latin typeface="Aptos"/>
              </a:rPr>
              <a:t>MAFIA 2026  /  КОНЦЕПЦИЯ ИГРЫ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19072"/>
            <a:ext cx="4892040" cy="100584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 i="0">
                <a:solidFill>
                  <a:srgbClr val="F4EFE3"/>
                </a:solidFill>
                <a:latin typeface="Aptos Display"/>
              </a:rPr>
              <a:t>Знакомые правила.</a:t>
            </a:r>
          </a:p>
          <a:p>
            <a:pPr algn="l">
              <a:spcAft>
                <a:spcPts val="400"/>
              </a:spcAft>
            </a:pPr>
            <a:r>
              <a:rPr sz="2500" b="1" i="0">
                <a:solidFill>
                  <a:srgbClr val="F4EFE3"/>
                </a:solidFill>
                <a:latin typeface="Aptos Display"/>
              </a:rPr>
              <a:t>Новая игровая оболочка.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3703320"/>
            <a:ext cx="4480560" cy="11430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A4A9B8"/>
                </a:solidFill>
                <a:latin typeface="Aptos"/>
              </a:rPr>
              <a:t>MAFIA 2026 объединяет социальную дедукцию, обсуждение и голосование в одном интерфейсе.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1737360"/>
            <a:ext cx="5440680" cy="4343400"/>
          </a:xfrm>
          <a:prstGeom prst="roundRect">
            <a:avLst/>
          </a:prstGeom>
          <a:solidFill>
            <a:srgbClr val="1619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2057400"/>
            <a:ext cx="4480560" cy="36576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E23743"/>
                </a:solidFill>
                <a:latin typeface="Aptos"/>
              </a:rPr>
              <a:t>ЦЕЛЬ ИГРЫ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2606040"/>
            <a:ext cx="4754880" cy="1234440"/>
          </a:xfrm>
          <a:prstGeom prst="roundRect">
            <a:avLst/>
          </a:prstGeom>
          <a:solidFill>
            <a:srgbClr val="1619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2770632"/>
            <a:ext cx="50292" cy="905256"/>
          </a:xfrm>
          <a:prstGeom prst="rect">
            <a:avLst/>
          </a:prstGeom>
          <a:solidFill>
            <a:srgbClr val="56C0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64807" y="2807208"/>
            <a:ext cx="4370832" cy="34747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4EFE3"/>
                </a:solidFill>
                <a:latin typeface="Aptos Display"/>
              </a:rPr>
              <a:t>Мирные жители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4807" y="3264408"/>
            <a:ext cx="4370832" cy="4297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A4A9B8"/>
                </a:solidFill>
                <a:latin typeface="Aptos"/>
              </a:rPr>
              <a:t>Найти мафию, обсуждать улики и принимать решения вместе.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4069080"/>
            <a:ext cx="4754880" cy="1234440"/>
          </a:xfrm>
          <a:prstGeom prst="roundRect">
            <a:avLst/>
          </a:prstGeom>
          <a:solidFill>
            <a:srgbClr val="1619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4233672"/>
            <a:ext cx="50292" cy="905256"/>
          </a:xfrm>
          <a:prstGeom prst="rect">
            <a:avLst/>
          </a:prstGeom>
          <a:solidFill>
            <a:srgbClr val="E23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64807" y="4270248"/>
            <a:ext cx="4370832" cy="34747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4EFE3"/>
                </a:solidFill>
                <a:latin typeface="Aptos Display"/>
              </a:rPr>
              <a:t>Мафия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4807" y="4727448"/>
            <a:ext cx="4370832" cy="4297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A4A9B8"/>
                </a:solidFill>
                <a:latin typeface="Aptos"/>
              </a:rPr>
              <a:t>Оставаться незамеченной и влиять на ход партии.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E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47472"/>
            <a:ext cx="685800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E23743"/>
                </a:solidFill>
                <a:latin typeface="Aptos"/>
              </a:rPr>
              <a:t>02 / ГЛАВНЫЙ ЭКРАН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04088"/>
            <a:ext cx="10515600" cy="59436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F4EFE3"/>
                </a:solidFill>
                <a:latin typeface="Aptos Display"/>
              </a:rPr>
              <a:t>Всё важное — в одном меню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411480"/>
            <a:ext cx="45720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1" i="0">
                <a:solidFill>
                  <a:srgbClr val="A4A9B8"/>
                </a:solidFill>
                <a:latin typeface="Aptos"/>
              </a:rP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89888"/>
            <a:ext cx="566928" cy="41148"/>
          </a:xfrm>
          <a:prstGeom prst="rect">
            <a:avLst/>
          </a:prstGeom>
          <a:solidFill>
            <a:srgbClr val="E23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510528"/>
            <a:ext cx="5486400" cy="1828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1" i="0">
                <a:solidFill>
                  <a:srgbClr val="A4A9B8"/>
                </a:solidFill>
                <a:latin typeface="Aptos"/>
              </a:rPr>
              <a:t>MAFIA 2026  /  КОНЦЕПЦИЯ ИГРЫ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6766560" cy="4434840"/>
          </a:xfrm>
          <a:prstGeom prst="roundRect">
            <a:avLst/>
          </a:prstGeom>
          <a:solidFill>
            <a:srgbClr val="1619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87552" y="1938528"/>
            <a:ext cx="6263640" cy="594360"/>
          </a:xfrm>
          <a:prstGeom prst="roundRect">
            <a:avLst/>
          </a:prstGeom>
          <a:solidFill>
            <a:srgbClr val="1D2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07008" y="2084831"/>
            <a:ext cx="237744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F4EFE3"/>
                </a:solidFill>
                <a:latin typeface="Aptos Display"/>
              </a:rPr>
              <a:t>MAFIA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0" y="2084831"/>
            <a:ext cx="123444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 i="0">
                <a:solidFill>
                  <a:srgbClr val="E0B45D"/>
                </a:solidFill>
                <a:latin typeface="Aptos"/>
              </a:rPr>
              <a:t>LVL 08  •  640 XP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78992" y="2743200"/>
            <a:ext cx="5897880" cy="566928"/>
          </a:xfrm>
          <a:prstGeom prst="roundRect">
            <a:avLst/>
          </a:prstGeom>
          <a:solidFill>
            <a:srgbClr val="1D2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261872" y="2880360"/>
            <a:ext cx="274320" cy="274320"/>
          </a:xfrm>
          <a:prstGeom prst="ellipse">
            <a:avLst/>
          </a:prstGeom>
          <a:solidFill>
            <a:srgbClr val="E23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19072" y="2825496"/>
            <a:ext cx="2331720" cy="219456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4EFE3"/>
                </a:solidFill>
                <a:latin typeface="Aptos"/>
              </a:rPr>
              <a:t>Играть онлайн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77639" y="2862072"/>
            <a:ext cx="2606040" cy="219456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A4A9B8"/>
                </a:solidFill>
                <a:latin typeface="Aptos"/>
              </a:rPr>
              <a:t>Комнаты и друзья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78992" y="3456432"/>
            <a:ext cx="5897880" cy="566928"/>
          </a:xfrm>
          <a:prstGeom prst="roundRect">
            <a:avLst/>
          </a:prstGeom>
          <a:solidFill>
            <a:srgbClr val="1D2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261872" y="3593592"/>
            <a:ext cx="274320" cy="274320"/>
          </a:xfrm>
          <a:prstGeom prst="ellipse">
            <a:avLst/>
          </a:prstGeom>
          <a:solidFill>
            <a:srgbClr val="E0B4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719072" y="3538728"/>
            <a:ext cx="2331720" cy="219456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4EFE3"/>
                </a:solidFill>
                <a:latin typeface="Aptos"/>
              </a:rPr>
              <a:t>Игра с ботами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77639" y="3575304"/>
            <a:ext cx="2606040" cy="219456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A4A9B8"/>
                </a:solidFill>
                <a:latin typeface="Aptos"/>
              </a:rPr>
              <a:t>Тренировка и быстрый старт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78992" y="4169664"/>
            <a:ext cx="5897880" cy="566928"/>
          </a:xfrm>
          <a:prstGeom prst="roundRect">
            <a:avLst/>
          </a:prstGeom>
          <a:solidFill>
            <a:srgbClr val="1D2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261872" y="4306824"/>
            <a:ext cx="274320" cy="274320"/>
          </a:xfrm>
          <a:prstGeom prst="ellipse">
            <a:avLst/>
          </a:prstGeom>
          <a:solidFill>
            <a:srgbClr val="56C0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719072" y="4251960"/>
            <a:ext cx="2331720" cy="219456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4EFE3"/>
                </a:solidFill>
                <a:latin typeface="Aptos"/>
              </a:rPr>
              <a:t>Правила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77639" y="4288536"/>
            <a:ext cx="2606040" cy="219456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A4A9B8"/>
                </a:solidFill>
                <a:latin typeface="Aptos"/>
              </a:rPr>
              <a:t>Роли и ход партии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78992" y="4882896"/>
            <a:ext cx="5897880" cy="566928"/>
          </a:xfrm>
          <a:prstGeom prst="roundRect">
            <a:avLst/>
          </a:prstGeom>
          <a:solidFill>
            <a:srgbClr val="1D2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261872" y="5020056"/>
            <a:ext cx="274320" cy="274320"/>
          </a:xfrm>
          <a:prstGeom prst="ellipse">
            <a:avLst/>
          </a:prstGeom>
          <a:solidFill>
            <a:srgbClr val="7E1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719072" y="4965192"/>
            <a:ext cx="2331720" cy="219456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4EFE3"/>
                </a:solidFill>
                <a:latin typeface="Aptos"/>
              </a:rPr>
              <a:t>Магазин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77639" y="5001768"/>
            <a:ext cx="2606040" cy="219456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A4A9B8"/>
                </a:solidFill>
                <a:latin typeface="Aptos"/>
              </a:rPr>
              <a:t>Аватары и оформление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01000" y="1828800"/>
            <a:ext cx="3337560" cy="1143000"/>
          </a:xfrm>
          <a:prstGeom prst="roundRect">
            <a:avLst/>
          </a:prstGeom>
          <a:solidFill>
            <a:srgbClr val="1619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01000" y="1993392"/>
            <a:ext cx="50292" cy="813816"/>
          </a:xfrm>
          <a:prstGeom prst="rect">
            <a:avLst/>
          </a:prstGeom>
          <a:solidFill>
            <a:srgbClr val="E23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02168" y="2029968"/>
            <a:ext cx="2953512" cy="34747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F4EFE3"/>
                </a:solidFill>
                <a:latin typeface="Aptos Display"/>
              </a:rPr>
              <a:t>Профиль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02168" y="2487168"/>
            <a:ext cx="2953512" cy="33832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A4A9B8"/>
                </a:solidFill>
                <a:latin typeface="Aptos"/>
              </a:rPr>
              <a:t>Имя, аватар, уровень и опыт.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01000" y="3246120"/>
            <a:ext cx="3337560" cy="1143000"/>
          </a:xfrm>
          <a:prstGeom prst="roundRect">
            <a:avLst/>
          </a:prstGeom>
          <a:solidFill>
            <a:srgbClr val="1619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001000" y="3410712"/>
            <a:ext cx="50292" cy="813816"/>
          </a:xfrm>
          <a:prstGeom prst="rect">
            <a:avLst/>
          </a:prstGeom>
          <a:solidFill>
            <a:srgbClr val="E0B4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02168" y="3447288"/>
            <a:ext cx="2953512" cy="34747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F4EFE3"/>
                </a:solidFill>
                <a:latin typeface="Aptos Display"/>
              </a:rPr>
              <a:t>Друзья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02168" y="3904487"/>
            <a:ext cx="2953512" cy="33832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A4A9B8"/>
                </a:solidFill>
                <a:latin typeface="Aptos"/>
              </a:rPr>
              <a:t>Социальная часть игры.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01000" y="4663440"/>
            <a:ext cx="3337560" cy="1143000"/>
          </a:xfrm>
          <a:prstGeom prst="roundRect">
            <a:avLst/>
          </a:prstGeom>
          <a:solidFill>
            <a:srgbClr val="1619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001000" y="4828031"/>
            <a:ext cx="50292" cy="813816"/>
          </a:xfrm>
          <a:prstGeom prst="rect">
            <a:avLst/>
          </a:prstGeom>
          <a:solidFill>
            <a:srgbClr val="56C0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02168" y="4864607"/>
            <a:ext cx="2953512" cy="34747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F4EFE3"/>
                </a:solidFill>
                <a:latin typeface="Aptos Display"/>
              </a:rPr>
              <a:t>Магазин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02168" y="5321807"/>
            <a:ext cx="2953512" cy="33832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A4A9B8"/>
                </a:solidFill>
                <a:latin typeface="Aptos"/>
              </a:rPr>
              <a:t>Персонализация профиля.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E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47472"/>
            <a:ext cx="685800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E23743"/>
                </a:solidFill>
                <a:latin typeface="Aptos"/>
              </a:rPr>
              <a:t>03 / НАСТРОЙКА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04088"/>
            <a:ext cx="10515600" cy="59436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F4EFE3"/>
                </a:solidFill>
                <a:latin typeface="Aptos Display"/>
              </a:rPr>
              <a:t>Каждая партия — под свой стиль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411480"/>
            <a:ext cx="45720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1" i="0">
                <a:solidFill>
                  <a:srgbClr val="A4A9B8"/>
                </a:solidFill>
                <a:latin typeface="Aptos"/>
              </a:rPr>
              <a:t>04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89888"/>
            <a:ext cx="566928" cy="41148"/>
          </a:xfrm>
          <a:prstGeom prst="rect">
            <a:avLst/>
          </a:prstGeom>
          <a:solidFill>
            <a:srgbClr val="E23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510528"/>
            <a:ext cx="5486400" cy="1828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1" i="0">
                <a:solidFill>
                  <a:srgbClr val="A4A9B8"/>
                </a:solidFill>
                <a:latin typeface="Aptos"/>
              </a:rPr>
              <a:t>MAFIA 2026  /  КОНЦЕПЦИЯ ИГРЫ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691640"/>
            <a:ext cx="4663440" cy="6858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 i="0">
                <a:solidFill>
                  <a:srgbClr val="F4EFE3"/>
                </a:solidFill>
                <a:latin typeface="Aptos Display"/>
              </a:rPr>
              <a:t>Гибкие параметры перед стартом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4389120" cy="10972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A4A9B8"/>
                </a:solidFill>
                <a:latin typeface="Aptos"/>
              </a:rPr>
              <a:t>Игроки могут выбрать состав партии, количество ботов и длительность игровых фаз.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0" y="1737360"/>
            <a:ext cx="5852160" cy="4343400"/>
          </a:xfrm>
          <a:prstGeom prst="roundRect">
            <a:avLst/>
          </a:prstGeom>
          <a:solidFill>
            <a:srgbClr val="1619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0" y="2057400"/>
            <a:ext cx="201168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A4A9B8"/>
                </a:solidFill>
                <a:latin typeface="Aptos"/>
              </a:rPr>
              <a:t>ИГРОКИ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0" y="2057400"/>
            <a:ext cx="155448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1" i="0">
                <a:solidFill>
                  <a:srgbClr val="F4EFE3"/>
                </a:solidFill>
                <a:latin typeface="Aptos"/>
              </a:rPr>
              <a:t>5—15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52160" y="2441448"/>
            <a:ext cx="5029200" cy="109728"/>
          </a:xfrm>
          <a:prstGeom prst="roundRect">
            <a:avLst/>
          </a:prstGeom>
          <a:solidFill>
            <a:srgbClr val="1D2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852160" y="2441448"/>
            <a:ext cx="3017520" cy="109728"/>
          </a:xfrm>
          <a:prstGeom prst="roundRect">
            <a:avLst/>
          </a:prstGeom>
          <a:solidFill>
            <a:srgbClr val="E23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52160" y="2953512"/>
            <a:ext cx="201168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A4A9B8"/>
                </a:solidFill>
                <a:latin typeface="Aptos"/>
              </a:rPr>
              <a:t>МАФИЯ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0" y="2953512"/>
            <a:ext cx="155448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1" i="0">
                <a:solidFill>
                  <a:srgbClr val="F4EFE3"/>
                </a:solidFill>
                <a:latin typeface="Aptos"/>
              </a:rPr>
              <a:t>1—4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52160" y="3337560"/>
            <a:ext cx="5029200" cy="109728"/>
          </a:xfrm>
          <a:prstGeom prst="roundRect">
            <a:avLst/>
          </a:prstGeom>
          <a:solidFill>
            <a:srgbClr val="1D2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852160" y="3337560"/>
            <a:ext cx="1911095" cy="109728"/>
          </a:xfrm>
          <a:prstGeom prst="roundRect">
            <a:avLst/>
          </a:prstGeom>
          <a:solidFill>
            <a:srgbClr val="E0B4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52160" y="3849624"/>
            <a:ext cx="201168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A4A9B8"/>
                </a:solidFill>
                <a:latin typeface="Aptos"/>
              </a:rPr>
              <a:t>БОТЫ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3849624"/>
            <a:ext cx="155448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1" i="0">
                <a:solidFill>
                  <a:srgbClr val="F4EFE3"/>
                </a:solidFill>
                <a:latin typeface="Aptos"/>
              </a:rPr>
              <a:t>0—10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852160" y="4233672"/>
            <a:ext cx="5029200" cy="109728"/>
          </a:xfrm>
          <a:prstGeom prst="roundRect">
            <a:avLst/>
          </a:prstGeom>
          <a:solidFill>
            <a:srgbClr val="1D2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852160" y="4233672"/>
            <a:ext cx="3621024" cy="109728"/>
          </a:xfrm>
          <a:prstGeom prst="roundRect">
            <a:avLst/>
          </a:prstGeom>
          <a:solidFill>
            <a:srgbClr val="56C0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52160" y="4745736"/>
            <a:ext cx="201168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A4A9B8"/>
                </a:solidFill>
                <a:latin typeface="Aptos"/>
              </a:rPr>
              <a:t>ДЕНЬ / НОЧЬ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0" y="4745736"/>
            <a:ext cx="155448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1" i="0">
                <a:solidFill>
                  <a:srgbClr val="F4EFE3"/>
                </a:solidFill>
                <a:latin typeface="Aptos"/>
              </a:rPr>
              <a:t>настраиваемо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852160" y="5129783"/>
            <a:ext cx="5029200" cy="109728"/>
          </a:xfrm>
          <a:prstGeom prst="roundRect">
            <a:avLst/>
          </a:prstGeom>
          <a:solidFill>
            <a:srgbClr val="1D2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852160" y="5129783"/>
            <a:ext cx="2665476" cy="109728"/>
          </a:xfrm>
          <a:prstGeom prst="roundRect">
            <a:avLst/>
          </a:prstGeom>
          <a:solidFill>
            <a:srgbClr val="E23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52160" y="5623560"/>
            <a:ext cx="502920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A4A9B8"/>
                </a:solidFill>
                <a:latin typeface="Aptos"/>
              </a:rPr>
              <a:t>ПАРТИЯ НАСТРАИВАЕТСЯ ПЕРЕД НАЧАЛОМ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E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47472"/>
            <a:ext cx="685800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E23743"/>
                </a:solidFill>
                <a:latin typeface="Aptos"/>
              </a:rPr>
              <a:t>04 / РОЛИ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04088"/>
            <a:ext cx="10515600" cy="59436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F4EFE3"/>
                </a:solidFill>
                <a:latin typeface="Aptos Display"/>
              </a:rPr>
              <a:t>У каждой роли — своя задача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411480"/>
            <a:ext cx="45720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1" i="0">
                <a:solidFill>
                  <a:srgbClr val="A4A9B8"/>
                </a:solidFill>
                <a:latin typeface="Aptos"/>
              </a:rPr>
              <a:t>05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89888"/>
            <a:ext cx="566928" cy="41148"/>
          </a:xfrm>
          <a:prstGeom prst="rect">
            <a:avLst/>
          </a:prstGeom>
          <a:solidFill>
            <a:srgbClr val="E23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510528"/>
            <a:ext cx="5486400" cy="1828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1" i="0">
                <a:solidFill>
                  <a:srgbClr val="A4A9B8"/>
                </a:solidFill>
                <a:latin typeface="Aptos"/>
              </a:rPr>
              <a:t>MAFIA 2026  /  КОНЦЕПЦИЯ ИГРЫ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83080"/>
            <a:ext cx="3429000" cy="1691640"/>
          </a:xfrm>
          <a:prstGeom prst="roundRect">
            <a:avLst/>
          </a:prstGeom>
          <a:solidFill>
            <a:srgbClr val="1619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2039112"/>
            <a:ext cx="530352" cy="530352"/>
          </a:xfrm>
          <a:prstGeom prst="ellipse">
            <a:avLst/>
          </a:prstGeom>
          <a:solidFill>
            <a:srgbClr val="E23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112264"/>
            <a:ext cx="530352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 i="0">
                <a:solidFill>
                  <a:srgbClr val="0C0E16"/>
                </a:solidFill>
                <a:latin typeface="Aptos"/>
              </a:rPr>
              <a:t>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066543"/>
            <a:ext cx="2240280" cy="32004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F4EFE3"/>
                </a:solidFill>
                <a:latin typeface="Aptos Display"/>
              </a:rPr>
              <a:t>МАФИЯ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2715768"/>
            <a:ext cx="2926080" cy="5029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A4A9B8"/>
                </a:solidFill>
                <a:latin typeface="Aptos"/>
              </a:rPr>
              <a:t>Действует скрытно и пытается перехитрить город.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26280" y="1783080"/>
            <a:ext cx="3429000" cy="1691640"/>
          </a:xfrm>
          <a:prstGeom prst="roundRect">
            <a:avLst/>
          </a:prstGeom>
          <a:solidFill>
            <a:srgbClr val="1619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754880" y="2039112"/>
            <a:ext cx="530352" cy="530352"/>
          </a:xfrm>
          <a:prstGeom prst="ellipse">
            <a:avLst/>
          </a:prstGeom>
          <a:solidFill>
            <a:srgbClr val="E0B4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0" y="2112264"/>
            <a:ext cx="530352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 i="0">
                <a:solidFill>
                  <a:srgbClr val="0C0E16"/>
                </a:solidFill>
                <a:latin typeface="Aptos"/>
              </a:rPr>
              <a:t>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40680" y="2066543"/>
            <a:ext cx="2240280" cy="32004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F4EFE3"/>
                </a:solidFill>
                <a:latin typeface="Aptos Display"/>
              </a:rPr>
              <a:t>КОМИССАР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82312" y="2715768"/>
            <a:ext cx="2926080" cy="5029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A4A9B8"/>
                </a:solidFill>
                <a:latin typeface="Aptos"/>
              </a:rPr>
              <a:t>Проверяет подозреваемых и ищет правду.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21040" y="1783080"/>
            <a:ext cx="3429000" cy="1691640"/>
          </a:xfrm>
          <a:prstGeom prst="roundRect">
            <a:avLst/>
          </a:prstGeom>
          <a:solidFill>
            <a:srgbClr val="1619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549640" y="2039112"/>
            <a:ext cx="530352" cy="530352"/>
          </a:xfrm>
          <a:prstGeom prst="ellipse">
            <a:avLst/>
          </a:prstGeom>
          <a:solidFill>
            <a:srgbClr val="56C0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49640" y="2112264"/>
            <a:ext cx="530352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 i="0">
                <a:solidFill>
                  <a:srgbClr val="0C0E16"/>
                </a:solidFill>
                <a:latin typeface="Aptos"/>
              </a:rPr>
              <a:t>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2066543"/>
            <a:ext cx="2240280" cy="32004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F4EFE3"/>
                </a:solidFill>
                <a:latin typeface="Aptos Display"/>
              </a:rPr>
              <a:t>ДОКТОР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77072" y="2715768"/>
            <a:ext cx="2926080" cy="5029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A4A9B8"/>
                </a:solidFill>
                <a:latin typeface="Aptos"/>
              </a:rPr>
              <a:t>Может защитить участника.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3840480"/>
            <a:ext cx="3429000" cy="1691640"/>
          </a:xfrm>
          <a:prstGeom prst="roundRect">
            <a:avLst/>
          </a:prstGeom>
          <a:solidFill>
            <a:srgbClr val="1619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60120" y="4096512"/>
            <a:ext cx="530352" cy="530352"/>
          </a:xfrm>
          <a:prstGeom prst="ellipse">
            <a:avLst/>
          </a:prstGeom>
          <a:solidFill>
            <a:srgbClr val="CC7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4169664"/>
            <a:ext cx="530352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 i="0">
                <a:solidFill>
                  <a:srgbClr val="0C0E16"/>
                </a:solidFill>
                <a:latin typeface="Aptos"/>
              </a:rPr>
              <a:t>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45920" y="4123944"/>
            <a:ext cx="2240280" cy="32004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F4EFE3"/>
                </a:solidFill>
                <a:latin typeface="Aptos Display"/>
              </a:rPr>
              <a:t>ЛЮБОВНИЦА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7552" y="4773168"/>
            <a:ext cx="2926080" cy="5029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A4A9B8"/>
                </a:solidFill>
                <a:latin typeface="Aptos"/>
              </a:rPr>
              <a:t>Особая роль с влиянием на ход партии.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26280" y="3840480"/>
            <a:ext cx="3429000" cy="1691640"/>
          </a:xfrm>
          <a:prstGeom prst="roundRect">
            <a:avLst/>
          </a:prstGeom>
          <a:solidFill>
            <a:srgbClr val="1619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754880" y="4096512"/>
            <a:ext cx="530352" cy="530352"/>
          </a:xfrm>
          <a:prstGeom prst="ellipse">
            <a:avLst/>
          </a:prstGeom>
          <a:solidFill>
            <a:srgbClr val="779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54880" y="4169664"/>
            <a:ext cx="530352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 i="0">
                <a:solidFill>
                  <a:srgbClr val="0C0E16"/>
                </a:solidFill>
                <a:latin typeface="Aptos"/>
              </a:rPr>
              <a:t>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40680" y="4123944"/>
            <a:ext cx="2240280" cy="32004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F4EFE3"/>
                </a:solidFill>
                <a:latin typeface="Aptos Display"/>
              </a:rPr>
              <a:t>ЖУРНАЛИСТ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82312" y="4773168"/>
            <a:ext cx="2926080" cy="5029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A4A9B8"/>
                </a:solidFill>
                <a:latin typeface="Aptos"/>
              </a:rPr>
              <a:t>Помогает раскрывать детали происходящего.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321040" y="3840480"/>
            <a:ext cx="3429000" cy="1691640"/>
          </a:xfrm>
          <a:prstGeom prst="roundRect">
            <a:avLst/>
          </a:prstGeom>
          <a:solidFill>
            <a:srgbClr val="1619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549640" y="4096512"/>
            <a:ext cx="530352" cy="530352"/>
          </a:xfrm>
          <a:prstGeom prst="ellipse">
            <a:avLst/>
          </a:prstGeom>
          <a:solidFill>
            <a:srgbClr val="F4EF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49640" y="4169664"/>
            <a:ext cx="530352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 i="0">
                <a:solidFill>
                  <a:srgbClr val="0C0E16"/>
                </a:solidFill>
                <a:latin typeface="Aptos"/>
              </a:rPr>
              <a:t>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35440" y="4123944"/>
            <a:ext cx="2240280" cy="32004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F4EFE3"/>
                </a:solidFill>
                <a:latin typeface="Aptos Display"/>
              </a:rPr>
              <a:t>МИРНЫЕ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77072" y="4773168"/>
            <a:ext cx="2926080" cy="5029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A4A9B8"/>
                </a:solidFill>
                <a:latin typeface="Aptos"/>
              </a:rPr>
              <a:t>Обсуждают события и голосуют.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E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47472"/>
            <a:ext cx="685800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E23743"/>
                </a:solidFill>
                <a:latin typeface="Aptos"/>
              </a:rPr>
              <a:t>05 / ИГРОВОЙ ЦИКЛ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04088"/>
            <a:ext cx="10515600" cy="59436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F4EFE3"/>
                </a:solidFill>
                <a:latin typeface="Aptos Display"/>
              </a:rPr>
              <a:t>Ночь. Обсуждение. Голосование.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411480"/>
            <a:ext cx="45720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1" i="0">
                <a:solidFill>
                  <a:srgbClr val="A4A9B8"/>
                </a:solidFill>
                <a:latin typeface="Aptos"/>
              </a:rPr>
              <a:t>06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89888"/>
            <a:ext cx="566928" cy="41148"/>
          </a:xfrm>
          <a:prstGeom prst="rect">
            <a:avLst/>
          </a:prstGeom>
          <a:solidFill>
            <a:srgbClr val="E23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510528"/>
            <a:ext cx="5486400" cy="1828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1" i="0">
                <a:solidFill>
                  <a:srgbClr val="A4A9B8"/>
                </a:solidFill>
                <a:latin typeface="Aptos"/>
              </a:rPr>
              <a:t>MAFIA 2026  /  КОНЦЕПЦИЯ ИГРЫ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423160" cy="2331720"/>
          </a:xfrm>
          <a:prstGeom prst="roundRect">
            <a:avLst/>
          </a:prstGeom>
          <a:solidFill>
            <a:srgbClr val="1619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2395728"/>
            <a:ext cx="640080" cy="32004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E23743"/>
                </a:solidFill>
                <a:latin typeface="Aptos Display"/>
              </a:rPr>
              <a:t>01</a:t>
            </a:r>
          </a:p>
        </p:txBody>
      </p:sp>
      <p:sp>
        <p:nvSpPr>
          <p:cNvPr id="9" name="Rectangle 8"/>
          <p:cNvSpPr/>
          <p:nvPr/>
        </p:nvSpPr>
        <p:spPr>
          <a:xfrm>
            <a:off x="978408" y="2907792"/>
            <a:ext cx="502920" cy="45720"/>
          </a:xfrm>
          <a:prstGeom prst="rect">
            <a:avLst/>
          </a:prstGeom>
          <a:solidFill>
            <a:srgbClr val="E23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8" y="3182112"/>
            <a:ext cx="2011680" cy="36576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4EFE3"/>
                </a:solidFill>
                <a:latin typeface="Aptos Display"/>
              </a:rPr>
              <a:t>НОЧЬ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3703320"/>
            <a:ext cx="2011680" cy="59436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A4A9B8"/>
                </a:solidFill>
                <a:latin typeface="Aptos"/>
              </a:rPr>
              <a:t>Роли выполняют свои действия.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27832" y="3035808"/>
            <a:ext cx="32004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 i="0">
                <a:solidFill>
                  <a:srgbClr val="E23743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30168" y="2148840"/>
            <a:ext cx="2423160" cy="2331720"/>
          </a:xfrm>
          <a:prstGeom prst="roundRect">
            <a:avLst/>
          </a:prstGeom>
          <a:solidFill>
            <a:srgbClr val="1619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31336" y="2395728"/>
            <a:ext cx="640080" cy="32004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E0B45D"/>
                </a:solidFill>
                <a:latin typeface="Aptos Display"/>
              </a:rPr>
              <a:t>02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31336" y="2907792"/>
            <a:ext cx="502920" cy="45720"/>
          </a:xfrm>
          <a:prstGeom prst="rect">
            <a:avLst/>
          </a:prstGeom>
          <a:solidFill>
            <a:srgbClr val="E0B4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31336" y="3182112"/>
            <a:ext cx="2011680" cy="36576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4EFE3"/>
                </a:solidFill>
                <a:latin typeface="Aptos Display"/>
              </a:rPr>
              <a:t>ДЕНЬ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31336" y="3703320"/>
            <a:ext cx="2011680" cy="59436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A4A9B8"/>
                </a:solidFill>
                <a:latin typeface="Aptos"/>
              </a:rPr>
              <a:t>Игроки обсуждают события.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0760" y="3035808"/>
            <a:ext cx="32004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 i="0">
                <a:solidFill>
                  <a:srgbClr val="E23743"/>
                </a:solidFill>
                <a:latin typeface="Aptos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83096" y="2148840"/>
            <a:ext cx="2423160" cy="2331720"/>
          </a:xfrm>
          <a:prstGeom prst="roundRect">
            <a:avLst/>
          </a:prstGeom>
          <a:solidFill>
            <a:srgbClr val="1619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84264" y="2395728"/>
            <a:ext cx="640080" cy="32004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56C0AD"/>
                </a:solidFill>
                <a:latin typeface="Aptos Display"/>
              </a:rPr>
              <a:t>03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84264" y="2907792"/>
            <a:ext cx="502920" cy="45720"/>
          </a:xfrm>
          <a:prstGeom prst="rect">
            <a:avLst/>
          </a:prstGeom>
          <a:solidFill>
            <a:srgbClr val="56C0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84264" y="3182112"/>
            <a:ext cx="2011680" cy="36576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4EFE3"/>
                </a:solidFill>
                <a:latin typeface="Aptos Display"/>
              </a:rPr>
              <a:t>ГОЛОСОВАНИЕ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84264" y="3703320"/>
            <a:ext cx="2011680" cy="59436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A4A9B8"/>
                </a:solidFill>
                <a:latin typeface="Aptos"/>
              </a:rPr>
              <a:t>Город выбирает подозреваемого.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33688" y="3035808"/>
            <a:ext cx="32004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 i="0">
                <a:solidFill>
                  <a:srgbClr val="E23743"/>
                </a:solidFill>
                <a:latin typeface="Aptos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336024" y="2148840"/>
            <a:ext cx="2423160" cy="2331720"/>
          </a:xfrm>
          <a:prstGeom prst="roundRect">
            <a:avLst/>
          </a:prstGeom>
          <a:solidFill>
            <a:srgbClr val="1619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37192" y="2395728"/>
            <a:ext cx="640080" cy="32004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7E1C2A"/>
                </a:solidFill>
                <a:latin typeface="Aptos Display"/>
              </a:rPr>
              <a:t>04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537192" y="2907792"/>
            <a:ext cx="502920" cy="45720"/>
          </a:xfrm>
          <a:prstGeom prst="rect">
            <a:avLst/>
          </a:prstGeom>
          <a:solidFill>
            <a:srgbClr val="7E1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37192" y="3182112"/>
            <a:ext cx="2011680" cy="36576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4EFE3"/>
                </a:solidFill>
                <a:latin typeface="Aptos Display"/>
              </a:rPr>
              <a:t>СЛЕДУЮЩИЙ РАУНД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37192" y="3703320"/>
            <a:ext cx="2011680" cy="59436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A4A9B8"/>
                </a:solidFill>
                <a:latin typeface="Aptos"/>
              </a:rPr>
              <a:t>Игра продолжается до победы одной стороны.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5166360"/>
            <a:ext cx="10241280" cy="4572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F4EFE3"/>
                </a:solidFill>
                <a:latin typeface="Aptos"/>
              </a:rPr>
              <a:t>В интерфейсе предусмотрены смена фаз, голосование, чат и лента игровых событий.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E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47472"/>
            <a:ext cx="685800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E23743"/>
                </a:solidFill>
                <a:latin typeface="Aptos"/>
              </a:rPr>
              <a:t>06 / ПРОГРЕСС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04088"/>
            <a:ext cx="10515600" cy="59436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F4EFE3"/>
                </a:solidFill>
                <a:latin typeface="Aptos Display"/>
              </a:rPr>
              <a:t>Игра, у которой есть личный стиль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411480"/>
            <a:ext cx="45720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1" i="0">
                <a:solidFill>
                  <a:srgbClr val="A4A9B8"/>
                </a:solidFill>
                <a:latin typeface="Aptos"/>
              </a:rPr>
              <a:t>07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89888"/>
            <a:ext cx="566928" cy="41148"/>
          </a:xfrm>
          <a:prstGeom prst="rect">
            <a:avLst/>
          </a:prstGeom>
          <a:solidFill>
            <a:srgbClr val="E23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510528"/>
            <a:ext cx="5486400" cy="1828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1" i="0">
                <a:solidFill>
                  <a:srgbClr val="A4A9B8"/>
                </a:solidFill>
                <a:latin typeface="Aptos"/>
              </a:rPr>
              <a:t>MAFIA 2026  /  КОНЦЕПЦИЯ ИГРЫ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4663440" cy="4114800"/>
          </a:xfrm>
          <a:prstGeom prst="roundRect">
            <a:avLst/>
          </a:prstGeom>
          <a:solidFill>
            <a:srgbClr val="1619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103120"/>
            <a:ext cx="3200400" cy="32004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E23743"/>
                </a:solidFill>
                <a:latin typeface="Aptos"/>
              </a:rPr>
              <a:t>ПРОФИЛЬ ИГРОКА</a:t>
            </a:r>
          </a:p>
        </p:txBody>
      </p:sp>
      <p:sp>
        <p:nvSpPr>
          <p:cNvPr id="9" name="Oval 8"/>
          <p:cNvSpPr/>
          <p:nvPr/>
        </p:nvSpPr>
        <p:spPr>
          <a:xfrm>
            <a:off x="1097280" y="2651760"/>
            <a:ext cx="960120" cy="960120"/>
          </a:xfrm>
          <a:prstGeom prst="ellipse">
            <a:avLst/>
          </a:prstGeom>
          <a:solidFill>
            <a:srgbClr val="E0B4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898648"/>
            <a:ext cx="96012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 i="0">
                <a:solidFill>
                  <a:srgbClr val="0C0E16"/>
                </a:solidFill>
                <a:latin typeface="Aptos"/>
              </a:rPr>
              <a:t>08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31720" y="2724912"/>
            <a:ext cx="246888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 i="0">
                <a:solidFill>
                  <a:srgbClr val="F4EFE3"/>
                </a:solidFill>
                <a:latin typeface="Aptos Display"/>
              </a:rPr>
              <a:t>Игрок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31720" y="3090672"/>
            <a:ext cx="237744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A4A9B8"/>
                </a:solidFill>
                <a:latin typeface="Aptos"/>
              </a:rPr>
              <a:t>Уровень 8  •  640 XP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4069080"/>
            <a:ext cx="3840480" cy="146304"/>
          </a:xfrm>
          <a:prstGeom prst="roundRect">
            <a:avLst/>
          </a:prstGeom>
          <a:solidFill>
            <a:srgbClr val="1D2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97280" y="4069080"/>
            <a:ext cx="2560320" cy="146304"/>
          </a:xfrm>
          <a:prstGeom prst="roundRect">
            <a:avLst/>
          </a:prstGeom>
          <a:solidFill>
            <a:srgbClr val="E0B4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407408"/>
            <a:ext cx="384048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A4A9B8"/>
                </a:solidFill>
                <a:latin typeface="Aptos"/>
              </a:rPr>
              <a:t>ОПЫТ И ПРОГРЕСС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5074920"/>
            <a:ext cx="3840480" cy="36576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4EFE3"/>
                </a:solidFill>
                <a:latin typeface="Aptos"/>
              </a:rPr>
              <a:t>Аватар • уровень • оформление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89320" y="1874519"/>
            <a:ext cx="5166360" cy="1143000"/>
          </a:xfrm>
          <a:prstGeom prst="roundRect">
            <a:avLst/>
          </a:prstGeom>
          <a:solidFill>
            <a:srgbClr val="1619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89320" y="2039112"/>
            <a:ext cx="50292" cy="813816"/>
          </a:xfrm>
          <a:prstGeom prst="rect">
            <a:avLst/>
          </a:prstGeom>
          <a:solidFill>
            <a:srgbClr val="E23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90488" y="2075688"/>
            <a:ext cx="4782312" cy="34747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F4EFE3"/>
                </a:solidFill>
                <a:latin typeface="Aptos Display"/>
              </a:rPr>
              <a:t>Персонализация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90488" y="2532887"/>
            <a:ext cx="4782312" cy="33832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A4A9B8"/>
                </a:solidFill>
                <a:latin typeface="Aptos"/>
              </a:rPr>
              <a:t>Аватары и визуальные элементы профиля.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89320" y="3291840"/>
            <a:ext cx="5166360" cy="1143000"/>
          </a:xfrm>
          <a:prstGeom prst="roundRect">
            <a:avLst/>
          </a:prstGeom>
          <a:solidFill>
            <a:srgbClr val="1619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989320" y="3456432"/>
            <a:ext cx="50292" cy="813816"/>
          </a:xfrm>
          <a:prstGeom prst="rect">
            <a:avLst/>
          </a:prstGeom>
          <a:solidFill>
            <a:srgbClr val="E0B4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90488" y="3493008"/>
            <a:ext cx="4782312" cy="34747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F4EFE3"/>
                </a:solidFill>
                <a:latin typeface="Aptos Display"/>
              </a:rPr>
              <a:t>Развитие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90488" y="3950208"/>
            <a:ext cx="4782312" cy="33832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A4A9B8"/>
                </a:solidFill>
                <a:latin typeface="Aptos"/>
              </a:rPr>
              <a:t>Уровни и опыт создают ощущение прогресса.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89320" y="4709160"/>
            <a:ext cx="5166360" cy="1143000"/>
          </a:xfrm>
          <a:prstGeom prst="roundRect">
            <a:avLst/>
          </a:prstGeom>
          <a:solidFill>
            <a:srgbClr val="1619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989320" y="4873752"/>
            <a:ext cx="50292" cy="813816"/>
          </a:xfrm>
          <a:prstGeom prst="rect">
            <a:avLst/>
          </a:prstGeom>
          <a:solidFill>
            <a:srgbClr val="56C0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90488" y="4910328"/>
            <a:ext cx="4782312" cy="34747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F4EFE3"/>
                </a:solidFill>
                <a:latin typeface="Aptos Display"/>
              </a:rPr>
              <a:t>Социальность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90488" y="5367528"/>
            <a:ext cx="4782312" cy="33832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A4A9B8"/>
                </a:solidFill>
                <a:latin typeface="Aptos"/>
              </a:rPr>
              <a:t>Друзья и игровые комнаты помогают собирать компанию.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E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47472"/>
            <a:ext cx="685800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E23743"/>
                </a:solidFill>
                <a:latin typeface="Aptos"/>
              </a:rPr>
              <a:t>07 / СТАТУС ПРОЕКТА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04088"/>
            <a:ext cx="10515600" cy="59436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F4EFE3"/>
                </a:solidFill>
                <a:latin typeface="Aptos Display"/>
              </a:rPr>
              <a:t>Основа уже есть. Следующий шаг — онлайн.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411480"/>
            <a:ext cx="45720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1" i="0">
                <a:solidFill>
                  <a:srgbClr val="A4A9B8"/>
                </a:solidFill>
                <a:latin typeface="Aptos"/>
              </a:rPr>
              <a:t>08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89888"/>
            <a:ext cx="566928" cy="41148"/>
          </a:xfrm>
          <a:prstGeom prst="rect">
            <a:avLst/>
          </a:prstGeom>
          <a:solidFill>
            <a:srgbClr val="E23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510528"/>
            <a:ext cx="5486400" cy="1828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1" i="0">
                <a:solidFill>
                  <a:srgbClr val="A4A9B8"/>
                </a:solidFill>
                <a:latin typeface="Aptos"/>
              </a:rPr>
              <a:t>MAFIA 2026  /  КОНЦЕПЦИЯ ИГРЫ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3337560" cy="1828800"/>
          </a:xfrm>
          <a:prstGeom prst="roundRect">
            <a:avLst/>
          </a:prstGeom>
          <a:solidFill>
            <a:srgbClr val="1619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947672"/>
            <a:ext cx="50292" cy="1499616"/>
          </a:xfrm>
          <a:prstGeom prst="rect">
            <a:avLst/>
          </a:prstGeom>
          <a:solidFill>
            <a:srgbClr val="56C0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1984248"/>
            <a:ext cx="2953512" cy="34747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F4EFE3"/>
                </a:solidFill>
                <a:latin typeface="Aptos Display"/>
              </a:rPr>
              <a:t>ГОТОВО В ПРОТОТИПЕ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2441448"/>
            <a:ext cx="2953512" cy="102412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A4A9B8"/>
                </a:solidFill>
                <a:latin typeface="Aptos"/>
              </a:rPr>
              <a:t>Меню, настройки партии, роли и элементы игрового интерфейса.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783080"/>
            <a:ext cx="3337560" cy="1828800"/>
          </a:xfrm>
          <a:prstGeom prst="roundRect">
            <a:avLst/>
          </a:prstGeom>
          <a:solidFill>
            <a:srgbClr val="1619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34840" y="1947672"/>
            <a:ext cx="50292" cy="1499616"/>
          </a:xfrm>
          <a:prstGeom prst="rect">
            <a:avLst/>
          </a:prstGeom>
          <a:solidFill>
            <a:srgbClr val="E23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36007" y="1984248"/>
            <a:ext cx="2953512" cy="34747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F4EFE3"/>
                </a:solidFill>
                <a:latin typeface="Aptos Display"/>
              </a:rPr>
              <a:t>ЕЩЁ НУЖНО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6007" y="2441448"/>
            <a:ext cx="2953512" cy="102412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A4A9B8"/>
                </a:solidFill>
                <a:latin typeface="Aptos"/>
              </a:rPr>
              <a:t>Серверная синхронизация и подключение реальных устройств.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783080"/>
            <a:ext cx="3337560" cy="1828800"/>
          </a:xfrm>
          <a:prstGeom prst="roundRect">
            <a:avLst/>
          </a:prstGeom>
          <a:solidFill>
            <a:srgbClr val="1619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2440" y="1947672"/>
            <a:ext cx="50292" cy="1499616"/>
          </a:xfrm>
          <a:prstGeom prst="rect">
            <a:avLst/>
          </a:prstGeom>
          <a:solidFill>
            <a:srgbClr val="E0B4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93608" y="1984248"/>
            <a:ext cx="2953512" cy="34747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F4EFE3"/>
                </a:solidFill>
                <a:latin typeface="Aptos Display"/>
              </a:rPr>
              <a:t>ПЛАН РАЗВИТИЯ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3608" y="2441448"/>
            <a:ext cx="2953512" cy="102412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A4A9B8"/>
                </a:solidFill>
                <a:latin typeface="Aptos"/>
              </a:rPr>
              <a:t>Тестирование, доработка правил и запуск полноценного мультиплеера.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069080"/>
            <a:ext cx="10652760" cy="1417320"/>
          </a:xfrm>
          <a:prstGeom prst="roundRect">
            <a:avLst/>
          </a:prstGeom>
          <a:solidFill>
            <a:srgbClr val="1D2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4370832"/>
            <a:ext cx="9966960" cy="4114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500" b="1" i="0">
                <a:solidFill>
                  <a:srgbClr val="F4EFE3"/>
                </a:solidFill>
                <a:latin typeface="Aptos Display"/>
              </a:rPr>
              <a:t>MAFIA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892040"/>
            <a:ext cx="996696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 i="0">
                <a:solidFill>
                  <a:srgbClr val="E0B45D"/>
                </a:solidFill>
                <a:latin typeface="Aptos"/>
              </a:rPr>
              <a:t>Игра на доверие, наблюдательность и умение убеждать.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806440"/>
            <a:ext cx="1005840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 i="0">
                <a:solidFill>
                  <a:srgbClr val="F4EFE3"/>
                </a:solidFill>
                <a:latin typeface="Aptos"/>
              </a:rPr>
              <a:t>Спасибо за внимание!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